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5" d="100"/>
          <a:sy n="85" d="100"/>
        </p:scale>
        <p:origin x="562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965135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8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A9DB3"/>
          </a:solidFill>
          <a:ln w="12700">
            <a:solidFill>
              <a:srgbClr val="2A9DB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492240"/>
            <a:ext cx="5120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879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Pair 3 • Resources, URIs &amp; Frameworks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241280" y="6492240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879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Web Development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7A8793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7A8793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53035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20" dirty="0">
                <a:solidFill>
                  <a:srgbClr val="1A6F7E"/>
                </a:solidFill>
              </a:rPr>
              <a:t>1 • DESIGNING URIS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58368" y="850392"/>
            <a:ext cx="10881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1F2933"/>
                </a:solidFill>
              </a:rPr>
              <a:t>Users and their orders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58368" y="1444752"/>
            <a:ext cx="10698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65717D"/>
                </a:solidFill>
              </a:rPr>
              <a:t>Keep the URI readable and show the relationship between resources.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58368" y="1993392"/>
            <a:ext cx="10881360" cy="3611880"/>
          </a:xfrm>
          <a:prstGeom prst="roundRect">
            <a:avLst>
              <a:gd name="adj" fmla="val 2025"/>
            </a:avLst>
          </a:prstGeom>
          <a:solidFill>
            <a:srgbClr val="E8F6F9"/>
          </a:solidFill>
          <a:ln w="12700">
            <a:solidFill>
              <a:srgbClr val="E8F6F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87552" y="2359152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A6F7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/users/{userId}/orders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1005840" y="306324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5717D"/>
                </a:solidFill>
              </a:rPr>
              <a:t>Main resource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05840" y="3364992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2933"/>
                </a:solidFill>
              </a:rPr>
              <a:t>users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2880360" y="331927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A9DB3"/>
                </a:solidFill>
              </a:rPr>
              <a:t>→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3419856" y="30632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5717D"/>
                </a:solidFill>
              </a:rPr>
              <a:t>Sub-resource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419856" y="3364992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2933"/>
                </a:solidFill>
              </a:rPr>
              <a:t>orders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5989320" y="2359152"/>
            <a:ext cx="4800600" cy="2615184"/>
          </a:xfrm>
          <a:prstGeom prst="roundRect">
            <a:avLst>
              <a:gd name="adj" fmla="val 279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27648" y="2670048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6F7E"/>
                </a:solidFill>
              </a:rPr>
              <a:t>How I would explain it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327648" y="3090672"/>
            <a:ext cx="3977640" cy="1325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r>
              <a:rPr lang="en-US" dirty="0">
                <a:solidFill>
                  <a:srgbClr val="65717D"/>
                </a:solidFill>
              </a:rPr>
              <a:t>/users – Hallway</a:t>
            </a:r>
          </a:p>
          <a:p>
            <a:r>
              <a:rPr lang="en-US" dirty="0">
                <a:solidFill>
                  <a:srgbClr val="65717D"/>
                </a:solidFill>
              </a:rPr>
              <a:t>/users/{</a:t>
            </a:r>
            <a:r>
              <a:rPr lang="en-US" dirty="0" err="1">
                <a:solidFill>
                  <a:srgbClr val="65717D"/>
                </a:solidFill>
              </a:rPr>
              <a:t>userId</a:t>
            </a:r>
            <a:r>
              <a:rPr lang="en-US" dirty="0">
                <a:solidFill>
                  <a:srgbClr val="65717D"/>
                </a:solidFill>
              </a:rPr>
              <a:t>} – Specific classroom</a:t>
            </a:r>
          </a:p>
          <a:p>
            <a:r>
              <a:rPr lang="en-US" dirty="0">
                <a:solidFill>
                  <a:srgbClr val="65717D"/>
                </a:solidFill>
              </a:rPr>
              <a:t>/users/{</a:t>
            </a:r>
            <a:r>
              <a:rPr lang="en-US" dirty="0" err="1">
                <a:solidFill>
                  <a:srgbClr val="65717D"/>
                </a:solidFill>
              </a:rPr>
              <a:t>userId</a:t>
            </a:r>
            <a:r>
              <a:rPr lang="en-US" dirty="0">
                <a:solidFill>
                  <a:srgbClr val="65717D"/>
                </a:solidFill>
              </a:rPr>
              <a:t>}/orders - Desks</a:t>
            </a:r>
          </a:p>
          <a:p>
            <a:r>
              <a:rPr lang="en-US" dirty="0">
                <a:solidFill>
                  <a:srgbClr val="65717D"/>
                </a:solidFill>
              </a:rPr>
              <a:t>/users/{</a:t>
            </a:r>
            <a:r>
              <a:rPr lang="en-US" dirty="0" err="1">
                <a:solidFill>
                  <a:srgbClr val="65717D"/>
                </a:solidFill>
              </a:rPr>
              <a:t>userId</a:t>
            </a:r>
            <a:r>
              <a:rPr lang="en-US" dirty="0">
                <a:solidFill>
                  <a:srgbClr val="65717D"/>
                </a:solidFill>
              </a:rPr>
              <a:t>}/orders/{</a:t>
            </a:r>
            <a:r>
              <a:rPr lang="en-US" dirty="0" err="1">
                <a:solidFill>
                  <a:srgbClr val="65717D"/>
                </a:solidFill>
              </a:rPr>
              <a:t>orderId</a:t>
            </a:r>
            <a:r>
              <a:rPr lang="en-US" dirty="0">
                <a:solidFill>
                  <a:srgbClr val="65717D"/>
                </a:solidFill>
              </a:rPr>
              <a:t>} – Specific Desks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7A8793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7A8793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  <p:sp>
        <p:nvSpPr>
          <p:cNvPr id="18" name="Text 0"/>
          <p:cNvSpPr/>
          <p:nvPr/>
        </p:nvSpPr>
        <p:spPr>
          <a:xfrm>
            <a:off x="685800" y="457200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Web Framework: Building a House</a:t>
            </a:r>
            <a:endParaRPr lang="en-US" sz="2600" dirty="0"/>
          </a:p>
        </p:txBody>
      </p:sp>
      <p:sp>
        <p:nvSpPr>
          <p:cNvPr id="19" name="Text 1"/>
          <p:cNvSpPr/>
          <p:nvPr/>
        </p:nvSpPr>
        <p:spPr>
          <a:xfrm>
            <a:off x="685800" y="987552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simple analogy for understanding what a framework gives developers</a:t>
            </a:r>
            <a:endParaRPr lang="en-US" sz="1250" dirty="0"/>
          </a:p>
        </p:txBody>
      </p:sp>
      <p:sp>
        <p:nvSpPr>
          <p:cNvPr id="20" name="Shape 2"/>
          <p:cNvSpPr/>
          <p:nvPr/>
        </p:nvSpPr>
        <p:spPr>
          <a:xfrm>
            <a:off x="685800" y="1600200"/>
            <a:ext cx="5212080" cy="338328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5240">
            <a:solidFill>
              <a:srgbClr val="E4E7EC"/>
            </a:solidFill>
            <a:prstDash val="solid"/>
          </a:ln>
          <a:effectLst>
            <a:outerShdw blurRad="25400" dist="50800" dir="2700000" algn="bl" rotWithShape="0">
              <a:srgbClr val="C9CED6">
                <a:alpha val="18000"/>
              </a:srgbClr>
            </a:outerShdw>
          </a:effectLst>
        </p:spPr>
      </p:sp>
      <p:sp>
        <p:nvSpPr>
          <p:cNvPr id="21" name="Shape 3"/>
          <p:cNvSpPr/>
          <p:nvPr/>
        </p:nvSpPr>
        <p:spPr>
          <a:xfrm>
            <a:off x="1024128" y="1938528"/>
            <a:ext cx="640080" cy="329184"/>
          </a:xfrm>
          <a:prstGeom prst="rect">
            <a:avLst/>
          </a:prstGeom>
          <a:solidFill>
            <a:srgbClr val="C98C53"/>
          </a:solidFill>
          <a:ln w="12700">
            <a:solidFill>
              <a:srgbClr val="A56E3B"/>
            </a:solidFill>
            <a:prstDash val="solid"/>
          </a:ln>
        </p:spPr>
      </p:sp>
      <p:sp>
        <p:nvSpPr>
          <p:cNvPr id="22" name="Shape 4"/>
          <p:cNvSpPr/>
          <p:nvPr/>
        </p:nvSpPr>
        <p:spPr>
          <a:xfrm>
            <a:off x="1572768" y="2176272"/>
            <a:ext cx="777240" cy="256032"/>
          </a:xfrm>
          <a:prstGeom prst="rect">
            <a:avLst/>
          </a:prstGeom>
          <a:solidFill>
            <a:srgbClr val="BFC5CC"/>
          </a:solidFill>
          <a:ln w="12700">
            <a:solidFill>
              <a:srgbClr val="9FA6AE"/>
            </a:solidFill>
            <a:prstDash val="solid"/>
          </a:ln>
        </p:spPr>
      </p:sp>
      <p:sp>
        <p:nvSpPr>
          <p:cNvPr id="23" name="Shape 5"/>
          <p:cNvSpPr/>
          <p:nvPr/>
        </p:nvSpPr>
        <p:spPr>
          <a:xfrm>
            <a:off x="1170432" y="2395728"/>
            <a:ext cx="914400" cy="219456"/>
          </a:xfrm>
          <a:prstGeom prst="rect">
            <a:avLst/>
          </a:prstGeom>
          <a:solidFill>
            <a:srgbClr val="8C96A3"/>
          </a:solidFill>
          <a:ln w="12700">
            <a:solidFill>
              <a:srgbClr val="747D89"/>
            </a:solidFill>
            <a:prstDash val="solid"/>
          </a:ln>
        </p:spPr>
      </p:sp>
      <p:sp>
        <p:nvSpPr>
          <p:cNvPr id="24" name="Text 6"/>
          <p:cNvSpPr/>
          <p:nvPr/>
        </p:nvSpPr>
        <p:spPr>
          <a:xfrm>
            <a:off x="2651760" y="1874520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2937"/>
                </a:solidFill>
              </a:rPr>
              <a:t>Programming Language</a:t>
            </a:r>
            <a:endParaRPr lang="en-US" sz="1800" dirty="0"/>
          </a:p>
        </p:txBody>
      </p:sp>
      <p:sp>
        <p:nvSpPr>
          <p:cNvPr id="26" name="Text 7"/>
          <p:cNvSpPr/>
          <p:nvPr/>
        </p:nvSpPr>
        <p:spPr>
          <a:xfrm>
            <a:off x="2651760" y="225856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F6BFF"/>
                </a:solidFill>
              </a:rPr>
              <a:t>= construction materials</a:t>
            </a:r>
            <a:endParaRPr lang="en-US" sz="1450" dirty="0"/>
          </a:p>
        </p:txBody>
      </p:sp>
      <p:sp>
        <p:nvSpPr>
          <p:cNvPr id="27" name="Text 8"/>
          <p:cNvSpPr/>
          <p:nvPr/>
        </p:nvSpPr>
        <p:spPr>
          <a:xfrm>
            <a:off x="2651760" y="2615184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280"/>
                </a:solidFill>
              </a:rPr>
              <a:t>Wood  •  Cement  •  Steel</a:t>
            </a:r>
            <a:endParaRPr lang="en-US" sz="1250" dirty="0"/>
          </a:p>
        </p:txBody>
      </p:sp>
      <p:sp>
        <p:nvSpPr>
          <p:cNvPr id="28" name="Text 9"/>
          <p:cNvSpPr/>
          <p:nvPr/>
        </p:nvSpPr>
        <p:spPr>
          <a:xfrm>
            <a:off x="1005840" y="3246120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374151"/>
                </a:solidFill>
              </a:rPr>
              <a:t>You have the raw materials to build with.</a:t>
            </a:r>
            <a:endParaRPr lang="en-US" sz="1550" dirty="0"/>
          </a:p>
        </p:txBody>
      </p:sp>
      <p:sp>
        <p:nvSpPr>
          <p:cNvPr id="29" name="Text 10"/>
          <p:cNvSpPr/>
          <p:nvPr/>
        </p:nvSpPr>
        <p:spPr>
          <a:xfrm>
            <a:off x="1078992" y="3703320"/>
            <a:ext cx="4343400" cy="6766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6B7280"/>
                </a:solidFill>
              </a:rPr>
              <a:t>The language gives you the basic pieces, but you still decide how everything is organized.</a:t>
            </a:r>
            <a:endParaRPr lang="en-US" sz="1150" dirty="0"/>
          </a:p>
        </p:txBody>
      </p:sp>
      <p:sp>
        <p:nvSpPr>
          <p:cNvPr id="30" name="Shape 11"/>
          <p:cNvSpPr/>
          <p:nvPr/>
        </p:nvSpPr>
        <p:spPr>
          <a:xfrm>
            <a:off x="6291072" y="1600200"/>
            <a:ext cx="5212080" cy="3383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4E7EC"/>
            </a:solidFill>
            <a:prstDash val="solid"/>
          </a:ln>
          <a:effectLst>
            <a:outerShdw blurRad="25400" dist="50800" dir="2700000" algn="bl" rotWithShape="0">
              <a:srgbClr val="C9CED6">
                <a:alpha val="18000"/>
              </a:srgbClr>
            </a:outerShdw>
          </a:effectLst>
        </p:spPr>
      </p:sp>
      <p:sp>
        <p:nvSpPr>
          <p:cNvPr id="31" name="Shape 12"/>
          <p:cNvSpPr/>
          <p:nvPr/>
        </p:nvSpPr>
        <p:spPr>
          <a:xfrm rot="16200000">
            <a:off x="6629400" y="1847088"/>
            <a:ext cx="1078992" cy="713232"/>
          </a:xfrm>
          <a:prstGeom prst="chevron">
            <a:avLst/>
          </a:prstGeom>
          <a:solidFill>
            <a:srgbClr val="DCE8FF"/>
          </a:solidFill>
          <a:ln w="17780">
            <a:solidFill>
              <a:srgbClr val="2F6BFF"/>
            </a:solidFill>
            <a:prstDash val="solid"/>
          </a:ln>
        </p:spPr>
      </p:sp>
      <p:sp>
        <p:nvSpPr>
          <p:cNvPr id="32" name="Shape 13"/>
          <p:cNvSpPr/>
          <p:nvPr/>
        </p:nvSpPr>
        <p:spPr>
          <a:xfrm>
            <a:off x="6821424" y="2350008"/>
            <a:ext cx="694944" cy="566928"/>
          </a:xfrm>
          <a:prstGeom prst="rect">
            <a:avLst/>
          </a:prstGeom>
          <a:solidFill>
            <a:srgbClr val="EFF4FF"/>
          </a:solidFill>
          <a:ln w="17780">
            <a:solidFill>
              <a:srgbClr val="2F6BFF"/>
            </a:solidFill>
            <a:prstDash val="solid"/>
          </a:ln>
        </p:spPr>
      </p:sp>
      <p:sp>
        <p:nvSpPr>
          <p:cNvPr id="33" name="Shape 14"/>
          <p:cNvSpPr/>
          <p:nvPr/>
        </p:nvSpPr>
        <p:spPr>
          <a:xfrm>
            <a:off x="7068312" y="2615184"/>
            <a:ext cx="164592" cy="301752"/>
          </a:xfrm>
          <a:prstGeom prst="rect">
            <a:avLst/>
          </a:prstGeom>
          <a:solidFill>
            <a:srgbClr val="2F6BFF"/>
          </a:solidFill>
          <a:ln w="12700">
            <a:solidFill>
              <a:srgbClr val="2F6BFF"/>
            </a:solidFill>
            <a:prstDash val="solid"/>
          </a:ln>
        </p:spPr>
      </p:sp>
      <p:sp>
        <p:nvSpPr>
          <p:cNvPr id="34" name="Text 15"/>
          <p:cNvSpPr/>
          <p:nvPr/>
        </p:nvSpPr>
        <p:spPr>
          <a:xfrm>
            <a:off x="8028432" y="1874520"/>
            <a:ext cx="2697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2937"/>
                </a:solidFill>
              </a:rPr>
              <a:t>Web Framework</a:t>
            </a:r>
            <a:endParaRPr lang="en-US" sz="1800" dirty="0"/>
          </a:p>
        </p:txBody>
      </p:sp>
      <p:sp>
        <p:nvSpPr>
          <p:cNvPr id="35" name="Text 16"/>
          <p:cNvSpPr/>
          <p:nvPr/>
        </p:nvSpPr>
        <p:spPr>
          <a:xfrm>
            <a:off x="8028432" y="2258568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F6BFF"/>
                </a:solidFill>
              </a:rPr>
              <a:t>= pre-made parts + tools + structure</a:t>
            </a:r>
            <a:endParaRPr lang="en-US" sz="1450" dirty="0"/>
          </a:p>
        </p:txBody>
      </p:sp>
      <p:sp>
        <p:nvSpPr>
          <p:cNvPr id="36" name="Text 17"/>
          <p:cNvSpPr/>
          <p:nvPr/>
        </p:nvSpPr>
        <p:spPr>
          <a:xfrm>
            <a:off x="8028432" y="276148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80" dirty="0">
                <a:solidFill>
                  <a:srgbClr val="6B7280"/>
                </a:solidFill>
              </a:rPr>
              <a:t>Routing  •  Validation  •  Common setup</a:t>
            </a:r>
            <a:endParaRPr lang="en-US" sz="1180" dirty="0"/>
          </a:p>
        </p:txBody>
      </p:sp>
      <p:sp>
        <p:nvSpPr>
          <p:cNvPr id="37" name="Text 18"/>
          <p:cNvSpPr/>
          <p:nvPr/>
        </p:nvSpPr>
        <p:spPr>
          <a:xfrm>
            <a:off x="6638544" y="3246120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374151"/>
                </a:solidFill>
              </a:rPr>
              <a:t>You don’t build every common part from scratch.</a:t>
            </a:r>
            <a:endParaRPr lang="en-US" sz="1550" dirty="0"/>
          </a:p>
        </p:txBody>
      </p:sp>
      <p:sp>
        <p:nvSpPr>
          <p:cNvPr id="38" name="Text 19"/>
          <p:cNvSpPr/>
          <p:nvPr/>
        </p:nvSpPr>
        <p:spPr>
          <a:xfrm>
            <a:off x="6684264" y="3675888"/>
            <a:ext cx="4389120" cy="777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6B7280"/>
                </a:solidFill>
              </a:rPr>
              <a:t>The framework gives reusable solutions for things developers repeatedly need, so you can focus on what makes your app unique.</a:t>
            </a:r>
            <a:endParaRPr lang="en-US" sz="1150" dirty="0"/>
          </a:p>
        </p:txBody>
      </p:sp>
      <p:sp>
        <p:nvSpPr>
          <p:cNvPr id="39" name="Shape 20"/>
          <p:cNvSpPr/>
          <p:nvPr/>
        </p:nvSpPr>
        <p:spPr>
          <a:xfrm>
            <a:off x="1600200" y="5349240"/>
            <a:ext cx="9006840" cy="804672"/>
          </a:xfrm>
          <a:prstGeom prst="roundRect">
            <a:avLst/>
          </a:prstGeom>
          <a:solidFill>
            <a:srgbClr val="EEF4FF"/>
          </a:solidFill>
          <a:ln w="12700">
            <a:solidFill>
              <a:srgbClr val="C9DAFF"/>
            </a:solidFill>
            <a:prstDash val="solid"/>
          </a:ln>
        </p:spPr>
      </p:sp>
      <p:sp>
        <p:nvSpPr>
          <p:cNvPr id="40" name="Text 21"/>
          <p:cNvSpPr/>
          <p:nvPr/>
        </p:nvSpPr>
        <p:spPr>
          <a:xfrm>
            <a:off x="1920240" y="5596128"/>
            <a:ext cx="8366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34FA5"/>
                </a:solidFill>
              </a:rPr>
              <a:t>REUSE COMMON SOLUTIONS  →  FOCUS ON UNIQUE FEATURES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53035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20" dirty="0">
                <a:solidFill>
                  <a:srgbClr val="1A6F7E"/>
                </a:solidFill>
              </a:rPr>
              <a:t>3 • FRAMEWORK EXAMPLES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58368" y="850392"/>
            <a:ext cx="10881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1F2933"/>
                </a:solidFill>
              </a:rPr>
              <a:t>Choosing a framework is like choosing a vehicle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58368" y="1444752"/>
            <a:ext cx="10698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65717D"/>
                </a:solidFill>
              </a:rPr>
              <a:t>Different vehicles can reach the destination, but each gives you a different way to get there.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58368" y="1965960"/>
            <a:ext cx="3246120" cy="3840480"/>
          </a:xfrm>
          <a:prstGeom prst="roundRect">
            <a:avLst>
              <a:gd name="adj" fmla="val 2254"/>
            </a:avLst>
          </a:prstGeom>
          <a:solidFill>
            <a:srgbClr val="EAF2FD"/>
          </a:solidFill>
          <a:ln w="12700">
            <a:solidFill>
              <a:srgbClr val="EAF2F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26771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F2933"/>
                </a:solidFill>
              </a:rPr>
              <a:t>ASP.NET Core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3154680" y="2286000"/>
            <a:ext cx="502920" cy="292608"/>
          </a:xfrm>
          <a:prstGeom prst="roundRect">
            <a:avLst/>
          </a:prstGeom>
          <a:solidFill>
            <a:srgbClr val="2D70C9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C#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14400" y="2852928"/>
            <a:ext cx="2697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50" b="1" dirty="0">
                <a:solidFill>
                  <a:srgbClr val="2D70C9"/>
                </a:solidFill>
              </a:rPr>
              <a:t>High-Speed Bullet Train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914400" y="3703320"/>
            <a:ext cx="2697480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2C3440"/>
                </a:solidFill>
              </a:rPr>
              <a:t>Structured, strongly typed, and built for speed and reliability. It takes more engineering upfront, but it handles large systems very well.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4160520" y="1965960"/>
            <a:ext cx="3246120" cy="3840480"/>
          </a:xfrm>
          <a:prstGeom prst="roundRect">
            <a:avLst>
              <a:gd name="adj" fmla="val 2254"/>
            </a:avLst>
          </a:prstGeom>
          <a:solidFill>
            <a:srgbClr val="ECF9F4"/>
          </a:solidFill>
          <a:ln w="12700">
            <a:solidFill>
              <a:srgbClr val="ECF9F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16552" y="226771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F2933"/>
                </a:solidFill>
              </a:rPr>
              <a:t>Express.js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6656832" y="2286000"/>
            <a:ext cx="502920" cy="292608"/>
          </a:xfrm>
          <a:prstGeom prst="roundRect">
            <a:avLst/>
          </a:prstGeom>
          <a:solidFill>
            <a:srgbClr val="218A68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JavaScript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416552" y="2852928"/>
            <a:ext cx="2697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50" b="1" dirty="0">
                <a:solidFill>
                  <a:srgbClr val="218A68"/>
                </a:solidFill>
              </a:rPr>
              <a:t>Customizable Electric Scooter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4416552" y="3703320"/>
            <a:ext cx="2697480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2C3440"/>
                </a:solidFill>
              </a:rPr>
              <a:t>Lightweight and flexible. You start with the basics, then add the libraries and tools you need as the project grows.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7662672" y="1965960"/>
            <a:ext cx="3246120" cy="3840480"/>
          </a:xfrm>
          <a:prstGeom prst="roundRect">
            <a:avLst>
              <a:gd name="adj" fmla="val 2254"/>
            </a:avLst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918704" y="226771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F2933"/>
                </a:solidFill>
              </a:rPr>
              <a:t>Django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0158984" y="2286000"/>
            <a:ext cx="502920" cy="292608"/>
          </a:xfrm>
          <a:prstGeom prst="roundRect">
            <a:avLst/>
          </a:prstGeom>
          <a:solidFill>
            <a:srgbClr val="B66424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Python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918704" y="2852928"/>
            <a:ext cx="2697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50" b="1" dirty="0">
                <a:solidFill>
                  <a:srgbClr val="B66424"/>
                </a:solidFill>
              </a:rPr>
              <a:t>All-Terrain RV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7918704" y="3703320"/>
            <a:ext cx="2697480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2C3440"/>
                </a:solidFill>
              </a:rPr>
              <a:t>Comes with many useful features already included, so you can get moving quickly without assembling every part yourself.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960120" y="5961888"/>
            <a:ext cx="10195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6F7E"/>
                </a:solidFill>
              </a:rPr>
              <a:t>Same destination: build a web application. Different ride: structure, flexibility, and built-in features.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7A8793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318</Words>
  <Application>Microsoft Office PowerPoint</Application>
  <PresentationFormat>Widescreen</PresentationFormat>
  <Paragraphs>49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Aptos</vt:lpstr>
      <vt:lpstr>Aptos Display</vt:lpstr>
      <vt:lpstr>Aptos Mono</vt:lpstr>
      <vt:lpstr>Arial</vt:lpstr>
      <vt:lpstr>Office Theme</vt:lpstr>
      <vt:lpstr>PowerPoint Presentation</vt:lpstr>
      <vt:lpstr>PowerPoint Presentation</vt:lpstr>
      <vt:lpstr>PowerPoint Presentation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Pair 3: Resources, URIs &amp; Frameworks</dc:title>
  <dc:subject>Pair 3 - Resources, URIs &amp; Frameworks</dc:subject>
  <dc:creator>OpenAI</dc:creator>
  <cp:lastModifiedBy>Dondees</cp:lastModifiedBy>
  <cp:revision>2</cp:revision>
  <dcterms:created xsi:type="dcterms:W3CDTF">2026-09-28T03:59:33Z</dcterms:created>
  <dcterms:modified xsi:type="dcterms:W3CDTF">2026-09-28T07:50:47Z</dcterms:modified>
</cp:coreProperties>
</file>